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defRPr sz="1800" b="1">
                <a:solidFill>
                  <a:srgbClr val="D4AF37"/>
                </a:solidFill>
                <a:latin typeface="Arial Black"/>
              </a:defRPr>
            </a:pPr>
            <a:r>
              <a:t>AI BADGE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10200" y="155448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980"/>
              </a:lnSpc>
              <a:defRPr sz="5200" b="1">
                <a:solidFill>
                  <a:srgbClr val="FFFFFF"/>
                </a:solidFill>
                <a:latin typeface="Arial Black"/>
              </a:defRPr>
            </a:pPr>
            <a:r>
              <a:t>AI Literacy Is No Longer</a:t>
            </a:r>
            <a:br/>
            <a:r>
              <a:t>Optional.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0">
                <a:solidFill>
                  <a:srgbClr val="D4AF37"/>
                </a:solidFill>
                <a:latin typeface="Arial"/>
              </a:defRPr>
            </a:pPr>
            <a:r>
              <a:t>It is a career requirement.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defRPr sz="2200" b="0">
                <a:solidFill>
                  <a:srgbClr val="C8C8E0"/>
                </a:solidFill>
                <a:latin typeface="Arial"/>
              </a:defRPr>
            </a:pPr>
            <a:r>
              <a:t>The gap is widening. Every week.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400" y="1371600"/>
            <a:ext cx="27432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defRPr sz="4400" b="1">
                <a:solidFill>
                  <a:srgbClr val="D4AF37"/>
                </a:solidFill>
                <a:latin typeface="Arial Black"/>
              </a:defRPr>
            </a:pPr>
            <a:r>
              <a:t>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C8C8E0"/>
                </a:solidFill>
                <a:latin typeface="Arial"/>
              </a:defRPr>
            </a:pPr>
            <a:r>
              <a:t>of executives say AI skills</a:t>
            </a:r>
            <a:br/>
            <a:r>
              <a:t>will be required within 18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defRPr sz="4400" b="1">
                <a:solidFill>
                  <a:srgbClr val="D4AF37"/>
                </a:solidFill>
                <a:latin typeface="Arial Black"/>
              </a:defRPr>
            </a:pPr>
            <a:r>
              <a:t>68%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C8C8E0"/>
                </a:solidFill>
                <a:latin typeface="Arial"/>
              </a:defRPr>
            </a:pPr>
            <a:r>
              <a:t>of hiring managers now filter</a:t>
            </a:r>
            <a:br/>
            <a:r>
              <a:t>candidates by AI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defRPr sz="4400" b="1">
                <a:solidFill>
                  <a:srgbClr val="D4AF37"/>
                </a:solidFill>
                <a:latin typeface="Arial Black"/>
              </a:defRPr>
            </a:pPr>
            <a:r>
              <a:t>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C8C8E0"/>
                </a:solidFill>
                <a:latin typeface="Arial"/>
              </a:defRPr>
            </a:pPr>
            <a:r>
              <a:t>faster promotion for professionals</a:t>
            </a:r>
            <a:br/>
            <a:r>
              <a:t>with verified AI competency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0"/>
              </a:lnSpc>
              <a:defRPr sz="1800" b="0">
                <a:solidFill>
                  <a:srgbClr val="C8C8E0"/>
                </a:solidFill>
                <a:latin typeface="Arial"/>
              </a:defRPr>
            </a:pPr>
            <a:r>
              <a:t>YouTube tutorials won't get you there.</a:t>
            </a:r>
            <a:br/>
            <a:r>
              <a:t>You need a structured path, a credential, and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800" b="1">
                <a:solidFill>
                  <a:srgbClr val="D4AF37"/>
                </a:solidFill>
                <a:latin typeface="Arial Black"/>
              </a:defRPr>
            </a:pPr>
            <a:r>
              <a:t>AI BADGE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59"/>
              </a:lnSpc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Go From AI Curious</a:t>
            </a:r>
            <a:br/>
            <a:r>
              <a:t>to AI Fluent in Six Weeks.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0" y="2834640"/>
            <a:ext cx="2286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0">
                <a:solidFill>
                  <a:srgbClr val="C8C8E0"/>
                </a:solidFill>
                <a:latin typeface="Arial"/>
              </a:defRPr>
            </a:pPr>
            <a:r>
              <a:t>Personalised, one-to-one AI coaching.</a:t>
            </a:r>
            <a:br/>
            <a:r>
              <a:t>We measure where you are, guide you forward,</a:t>
            </a:r>
            <a:br/>
            <a:r>
              <a:t>and prove how far you've 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D4AF37"/>
                </a:solidFill>
                <a:latin typeface="Arial"/>
              </a:defRPr>
            </a:pPr>
            <a:r>
              <a:t>Six weeks.  Six dimensions.  Real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Your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3000" y="1280160"/>
            <a:ext cx="2286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D4AF37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C8C8E0"/>
                </a:solidFill>
                <a:latin typeface="Arial"/>
              </a:defRPr>
            </a:pPr>
            <a:r>
              <a:t>Map your capability</a:t>
            </a:r>
            <a:br/>
            <a:r>
              <a:t>across six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D4AF37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CALIBRATE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C8C8E0"/>
                </a:solidFill>
                <a:latin typeface="Arial"/>
              </a:defRPr>
            </a:pPr>
            <a:r>
              <a:t>Get a personalised</a:t>
            </a:r>
            <a:br/>
            <a:r>
              <a:t>development pathway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9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D4AF37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C8C8E0"/>
                </a:solidFill>
                <a:latin typeface="Arial"/>
              </a:defRPr>
            </a:pPr>
            <a:r>
              <a:t>Weekly 1:1 check-ins</a:t>
            </a:r>
            <a:br/>
            <a:r>
              <a:t>with expert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D4AF37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C8C8E0"/>
                </a:solidFill>
                <a:latin typeface="Arial"/>
              </a:defRPr>
            </a:pPr>
            <a:r>
              <a:t>Measurable before-</a:t>
            </a:r>
            <a:br/>
            <a:r>
              <a:t>and-after progression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0">
                <a:solidFill>
                  <a:srgbClr val="C8C8E0"/>
                </a:solidFill>
                <a:latin typeface="Arial"/>
              </a:defRPr>
            </a:pPr>
            <a:r>
              <a:t>1-2 hours per week  |  Designed for working professionals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What You 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Aft>
                <a:spcPts val="640"/>
              </a:spcAft>
              <a:defRPr sz="1600">
                <a:solidFill>
                  <a:srgbClr val="C8C8E0"/>
                </a:solidFill>
                <a:latin typeface="Arial"/>
              </a:defRPr>
            </a:pPr>
            <a:r>
              <a:t>✓  Full AI Competency Assessment (before + after)</a:t>
            </a:r>
          </a:p>
          <a:p>
            <a:pPr algn="l">
              <a:lnSpc>
                <a:spcPts val="2560"/>
              </a:lnSpc>
              <a:spcAft>
                <a:spcPts val="640"/>
              </a:spcAft>
              <a:defRPr sz="1600">
                <a:solidFill>
                  <a:srgbClr val="C8C8E0"/>
                </a:solidFill>
                <a:latin typeface="Arial"/>
              </a:defRPr>
            </a:pPr>
            <a:r>
              <a:t>✓  Personalised development pathway</a:t>
            </a:r>
          </a:p>
          <a:p>
            <a:pPr algn="l">
              <a:lnSpc>
                <a:spcPts val="2560"/>
              </a:lnSpc>
              <a:spcAft>
                <a:spcPts val="640"/>
              </a:spcAft>
              <a:defRPr sz="1600">
                <a:solidFill>
                  <a:srgbClr val="C8C8E0"/>
                </a:solidFill>
                <a:latin typeface="Arial"/>
              </a:defRPr>
            </a:pPr>
            <a:r>
              <a:t>✓  6 weekly one-to-one coaching sessions</a:t>
            </a:r>
          </a:p>
          <a:p>
            <a:pPr algn="l">
              <a:lnSpc>
                <a:spcPts val="2560"/>
              </a:lnSpc>
              <a:spcAft>
                <a:spcPts val="640"/>
              </a:spcAft>
              <a:defRPr sz="1600">
                <a:solidFill>
                  <a:srgbClr val="C8C8E0"/>
                </a:solidFill>
                <a:latin typeface="Arial"/>
              </a:defRPr>
            </a:pPr>
            <a:r>
              <a:t>✓  Guided exercises calibrated to your level</a:t>
            </a:r>
          </a:p>
          <a:p>
            <a:pPr algn="l">
              <a:lnSpc>
                <a:spcPts val="2560"/>
              </a:lnSpc>
              <a:spcAft>
                <a:spcPts val="640"/>
              </a:spcAft>
              <a:defRPr sz="1600">
                <a:solidFill>
                  <a:srgbClr val="C8C8E0"/>
                </a:solidFill>
                <a:latin typeface="Arial"/>
              </a:defRPr>
            </a:pPr>
            <a:r>
              <a:t>✓  Tutorial library access</a:t>
            </a:r>
          </a:p>
          <a:p>
            <a:pPr algn="l">
              <a:lnSpc>
                <a:spcPts val="2560"/>
              </a:lnSpc>
              <a:spcAft>
                <a:spcPts val="640"/>
              </a:spcAft>
              <a:defRPr sz="1600">
                <a:solidFill>
                  <a:srgbClr val="C8C8E0"/>
                </a:solidFill>
                <a:latin typeface="Arial"/>
              </a:defRPr>
            </a:pPr>
            <a:r>
              <a:t>✓  Progress tracking dashboard</a:t>
            </a:r>
          </a:p>
          <a:p>
            <a:pPr algn="l">
              <a:lnSpc>
                <a:spcPts val="2560"/>
              </a:lnSpc>
              <a:spcAft>
                <a:spcPts val="640"/>
              </a:spcAft>
              <a:defRPr sz="1600">
                <a:solidFill>
                  <a:srgbClr val="C8C8E0"/>
                </a:solidFill>
                <a:latin typeface="Arial"/>
              </a:defRPr>
            </a:pPr>
            <a:r>
              <a:t>✓  Verified digital credential (LinkedIn-ready)</a:t>
            </a:r>
          </a:p>
        </p:txBody>
      </p:sp>
      <p:pic>
        <p:nvPicPr>
          <p:cNvPr id="4" name="Picture 3" descr="ai-badge-cred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1">
                <a:solidFill>
                  <a:srgbClr val="D4AF37"/>
                </a:solidFill>
                <a:latin typeface="Arial"/>
              </a:defRPr>
            </a:pPr>
            <a:r>
              <a:t>Your proof of AI fluency.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Your Coach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defRPr sz="2400" b="1">
                <a:solidFill>
                  <a:srgbClr val="D4AF37"/>
                </a:solidFill>
                <a:latin typeface="Arial Black"/>
              </a:defRPr>
            </a:pPr>
            <a:r>
              <a:t>VICTOR DEL ROSAL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0"/>
              </a:lnSpc>
              <a:spcAft>
                <a:spcPts val="680"/>
              </a:spcAft>
              <a:defRPr sz="1700">
                <a:solidFill>
                  <a:srgbClr val="C8C8E0"/>
                </a:solidFill>
                <a:latin typeface="Arial"/>
              </a:defRPr>
            </a:pPr>
            <a:r>
              <a:t>Award-winning AI educator &amp; author</a:t>
            </a:r>
          </a:p>
          <a:p>
            <a:pPr algn="ctr">
              <a:lnSpc>
                <a:spcPts val="2550"/>
              </a:lnSpc>
              <a:spcAft>
                <a:spcPts val="680"/>
              </a:spcAft>
              <a:defRPr sz="1700">
                <a:solidFill>
                  <a:srgbClr val="C8C8E0"/>
                </a:solidFill>
                <a:latin typeface="Arial"/>
              </a:defRPr>
            </a:pPr>
            <a:r>
              <a:t>Chief AI Officer, fiveinnolabs</a:t>
            </a:r>
          </a:p>
          <a:p>
            <a:pPr algn="ctr">
              <a:lnSpc>
                <a:spcPts val="2550"/>
              </a:lnSpc>
              <a:spcAft>
                <a:spcPts val="680"/>
              </a:spcAft>
              <a:defRPr sz="1700">
                <a:solidFill>
                  <a:srgbClr val="C8C8E0"/>
                </a:solidFill>
                <a:latin typeface="Arial"/>
              </a:defRPr>
            </a:pPr>
            <a:r>
              <a:t>Adjunct Professor of AI (NCI, Master's level)</a:t>
            </a:r>
          </a:p>
          <a:p>
            <a:pPr algn="ctr">
              <a:lnSpc>
                <a:spcPts val="2550"/>
              </a:lnSpc>
              <a:spcAft>
                <a:spcPts val="680"/>
              </a:spcAft>
              <a:defRPr sz="1700">
                <a:solidFill>
                  <a:srgbClr val="C8C8E0"/>
                </a:solidFill>
                <a:latin typeface="Arial"/>
              </a:defRPr>
            </a:pPr>
            <a:r>
              <a:t>Trained Fortune 500 leaders on GenAI</a:t>
            </a:r>
          </a:p>
          <a:p>
            <a:pPr algn="ctr">
              <a:lnSpc>
                <a:spcPts val="2550"/>
              </a:lnSpc>
              <a:spcAft>
                <a:spcPts val="680"/>
              </a:spcAft>
              <a:defRPr sz="1700">
                <a:solidFill>
                  <a:srgbClr val="C8C8E0"/>
                </a:solidFill>
                <a:latin typeface="Arial"/>
              </a:defRPr>
            </a:pPr>
            <a:r>
              <a:t>Harvard, Oxford, UCD Smurfit, Tec de Monterrey</a:t>
            </a:r>
          </a:p>
          <a:p>
            <a:pPr algn="ctr">
              <a:lnSpc>
                <a:spcPts val="2550"/>
              </a:lnSpc>
              <a:spcAft>
                <a:spcPts val="680"/>
              </a:spcAft>
              <a:defRPr sz="1700">
                <a:solidFill>
                  <a:srgbClr val="C8C8E0"/>
                </a:solidFill>
                <a:latin typeface="Arial"/>
              </a:defRPr>
            </a:pPr>
            <a:r>
              <a:t>170+ GitHub repositories (builds what he teaches)</a:t>
            </a:r>
          </a:p>
          <a:p>
            <a:pPr algn="ctr">
              <a:lnSpc>
                <a:spcPts val="2550"/>
              </a:lnSpc>
              <a:spcAft>
                <a:spcPts val="680"/>
              </a:spcAft>
              <a:defRPr sz="1700">
                <a:solidFill>
                  <a:srgbClr val="C8C8E0"/>
                </a:solidFill>
                <a:latin typeface="Arial"/>
              </a:defRPr>
            </a:pPr>
            <a:r>
              <a:t>Teaching Award, National Forum for T&amp;L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defRPr sz="1600" b="0">
                <a:solidFill>
                  <a:srgbClr val="D4AF37"/>
                </a:solidFill>
                <a:latin typeface="Arial"/>
              </a:defRPr>
            </a:pPr>
            <a:r>
              <a:t>"Whether you are new to AI or at an intermediate level,</a:t>
            </a:r>
            <a:br/>
            <a:r>
              <a:t>you will feel guided, challenged, and supported."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defRPr sz="4800" b="1">
                <a:solidFill>
                  <a:srgbClr val="D4AF37"/>
                </a:solidFill>
                <a:latin typeface="Arial Black"/>
              </a:defRPr>
            </a:pPr>
            <a:r>
              <a:t>100% Guarantee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400" y="2286000"/>
            <a:ext cx="27432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2400" b="0">
                <a:solidFill>
                  <a:srgbClr val="FFFFFF"/>
                </a:solidFill>
                <a:latin typeface="Arial"/>
              </a:defRPr>
            </a:pPr>
            <a:r>
              <a:t>If you have completed all sessions and all exercises,</a:t>
            </a:r>
            <a:br/>
            <a:r>
              <a:t>and still do not find a single practical use case,</a:t>
            </a:r>
            <a:br/>
            <a:r>
              <a:t>we will refund your full tuition.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defRPr sz="2200" b="1">
                <a:solidFill>
                  <a:srgbClr val="D4AF37"/>
                </a:solidFill>
                <a:latin typeface="Arial"/>
              </a:defRPr>
            </a:pPr>
            <a:r>
              <a:t>No forms. No friction. Just email me for a full refund.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D4AF37"/>
                </a:solidFill>
                <a:latin typeface="Arial Black"/>
              </a:defRPr>
            </a:pPr>
            <a:r>
              <a:t>AI BADGE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20"/>
              </a:lnSpc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Your Starting Point</a:t>
            </a:r>
            <a:br/>
            <a:r>
              <a:t>Is Right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0" y="3291840"/>
            <a:ext cx="2286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C8C8E0"/>
                </a:solidFill>
                <a:latin typeface="Arial"/>
              </a:defRPr>
            </a:pPr>
            <a:r>
              <a:t>From €90/week  |  6 weeks  |  One-to-one coaching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7200" y="4572000"/>
            <a:ext cx="3657600" cy="7315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0036"/>
                </a:solidFill>
                <a:latin typeface="Arial Black"/>
              </a:defRPr>
            </a:pPr>
            <a:r>
              <a:t>Pick a Slot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0">
                <a:solidFill>
                  <a:srgbClr val="D4AF37"/>
                </a:solidFill>
                <a:latin typeface="Arial"/>
              </a:defRPr>
            </a:pPr>
            <a:r>
              <a:t>aibadge.fiveinnolabs.com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