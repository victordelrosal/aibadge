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141170426" r:id="rId2"/>
    <p:sldId id="141170363" r:id="rId3"/>
    <p:sldId id="141170427" r:id="rId4"/>
    <p:sldId id="141170428" r:id="rId5"/>
    <p:sldId id="141170429" r:id="rId6"/>
    <p:sldId id="141170430" r:id="rId7"/>
    <p:sldId id="141170431" r:id="rId8"/>
    <p:sldId id="141170432" r:id="rId9"/>
    <p:sldId id="141170433" r:id="rId10"/>
    <p:sldId id="14117043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19F1EE4F-FA71-FE48-BD1C-A3176D9F16C0}">
          <p14:sldIdLst>
            <p14:sldId id="141170426"/>
            <p14:sldId id="141170363"/>
            <p14:sldId id="141170427"/>
            <p14:sldId id="141170428"/>
            <p14:sldId id="141170429"/>
            <p14:sldId id="141170430"/>
            <p14:sldId id="141170431"/>
            <p14:sldId id="141170432"/>
            <p14:sldId id="141170433"/>
            <p14:sldId id="14117043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9FFFF"/>
    <a:srgbClr val="00FFFF"/>
    <a:srgbClr val="00C3FF"/>
    <a:srgbClr val="00E0FF"/>
    <a:srgbClr val="0096FF"/>
    <a:srgbClr val="8600BC"/>
    <a:srgbClr val="001D94"/>
    <a:srgbClr val="00084F"/>
    <a:srgbClr val="0017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31"/>
    <p:restoredTop sz="96027"/>
  </p:normalViewPr>
  <p:slideViewPr>
    <p:cSldViewPr snapToGrid="0">
      <p:cViewPr varScale="1">
        <p:scale>
          <a:sx n="122" d="100"/>
          <a:sy n="122" d="100"/>
        </p:scale>
        <p:origin x="132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2CCD84-DF8E-3E4A-8D47-B94BF59FFADF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4F707-3277-6947-AFD4-C5AA93220C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4090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5CF7A-2371-8F49-74BB-79707129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EE68E-D0AE-C847-9F03-F8537C520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5B5C14-A3BE-4F0E-0D63-B6437F409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56251-1A65-14E2-4270-D1802BB6C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4F707-3277-6947-AFD4-C5AA93220CC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313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38DB4-531B-2213-8BED-C3110E778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DEC75-167F-46E6-F37B-1F7A1B8A8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81F28-BCD4-7851-2A8A-AB1FBD32C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38A25-9B55-8202-357F-DBD36E8D6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4F707-3277-6947-AFD4-C5AA93220CC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214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18AAC4-3E01-1A83-427D-19C36A412A88}"/>
              </a:ext>
            </a:extLst>
          </p:cNvPr>
          <p:cNvSpPr/>
          <p:nvPr userDrawn="1"/>
        </p:nvSpPr>
        <p:spPr>
          <a:xfrm rot="10800000">
            <a:off x="-1" y="0"/>
            <a:ext cx="12192000" cy="820565"/>
          </a:xfrm>
          <a:prstGeom prst="rect">
            <a:avLst/>
          </a:prstGeom>
          <a:gradFill>
            <a:gsLst>
              <a:gs pos="0">
                <a:srgbClr val="01136B"/>
              </a:gs>
              <a:gs pos="30000">
                <a:srgbClr val="00209D"/>
              </a:gs>
              <a:gs pos="99000">
                <a:srgbClr val="01054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EF72783-784E-7A91-C07A-196C9B0FB1BD}"/>
              </a:ext>
            </a:extLst>
          </p:cNvPr>
          <p:cNvSpPr/>
          <p:nvPr userDrawn="1"/>
        </p:nvSpPr>
        <p:spPr>
          <a:xfrm>
            <a:off x="225016" y="980651"/>
            <a:ext cx="11741966" cy="5733896"/>
          </a:xfrm>
          <a:prstGeom prst="roundRect">
            <a:avLst>
              <a:gd name="adj" fmla="val 1420"/>
            </a:avLst>
          </a:prstGeom>
          <a:noFill/>
          <a:ln>
            <a:solidFill>
              <a:schemeClr val="tx1">
                <a:alpha val="1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4E139A3F-AB15-A4BC-514E-B4E78EFE9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49054" y="6205183"/>
            <a:ext cx="488234" cy="463974"/>
          </a:xfrm>
          <a:prstGeom prst="rect">
            <a:avLst/>
          </a:prstGeom>
        </p:spPr>
      </p:pic>
      <p:pic>
        <p:nvPicPr>
          <p:cNvPr id="4" name="Picture 3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56ED364B-F852-ED77-9F6D-8F5D3E243E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7659" y="63055"/>
            <a:ext cx="695226" cy="660681"/>
          </a:xfrm>
          <a:prstGeom prst="rect">
            <a:avLst/>
          </a:prstGeom>
        </p:spPr>
      </p:pic>
      <p:pic>
        <p:nvPicPr>
          <p:cNvPr id="6" name="Picture 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BCF9F1BD-D8B0-058A-F68A-3EEA413BAC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926827" y="1586800"/>
            <a:ext cx="820949" cy="780157"/>
          </a:xfrm>
          <a:prstGeom prst="rect">
            <a:avLst/>
          </a:prstGeom>
        </p:spPr>
      </p:pic>
      <p:pic>
        <p:nvPicPr>
          <p:cNvPr id="11" name="Picture 1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05B6C570-3A9D-E88E-5330-C8A40635A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2368001" y="3648812"/>
            <a:ext cx="820949" cy="780157"/>
          </a:xfrm>
          <a:prstGeom prst="rect">
            <a:avLst/>
          </a:prstGeom>
        </p:spPr>
      </p:pic>
      <p:pic>
        <p:nvPicPr>
          <p:cNvPr id="13" name="Picture 1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8AB0B62F-147C-08AA-E63F-3A371C4E3C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3809175" y="5710824"/>
            <a:ext cx="820949" cy="780157"/>
          </a:xfrm>
          <a:prstGeom prst="rect">
            <a:avLst/>
          </a:prstGeom>
        </p:spPr>
      </p:pic>
      <p:pic>
        <p:nvPicPr>
          <p:cNvPr id="14" name="Picture 13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9901274B-4423-EB77-E9C5-5035D9975B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4510986" y="1586800"/>
            <a:ext cx="820949" cy="780157"/>
          </a:xfrm>
          <a:prstGeom prst="rect">
            <a:avLst/>
          </a:prstGeom>
        </p:spPr>
      </p:pic>
      <p:pic>
        <p:nvPicPr>
          <p:cNvPr id="15" name="Picture 14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882CE3B-B31F-A2D4-6073-51CEB90A69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5952160" y="3648812"/>
            <a:ext cx="820949" cy="780157"/>
          </a:xfrm>
          <a:prstGeom prst="rect">
            <a:avLst/>
          </a:prstGeom>
        </p:spPr>
      </p:pic>
      <p:pic>
        <p:nvPicPr>
          <p:cNvPr id="16" name="Picture 1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18135C3E-3CA0-BE78-2171-72050CB07B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7393334" y="5710824"/>
            <a:ext cx="820949" cy="780157"/>
          </a:xfrm>
          <a:prstGeom prst="rect">
            <a:avLst/>
          </a:prstGeom>
        </p:spPr>
      </p:pic>
      <p:pic>
        <p:nvPicPr>
          <p:cNvPr id="17" name="Picture 16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A4AEB33-E37A-4CEF-8EAA-89F0D06EAC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8095145" y="1586800"/>
            <a:ext cx="820949" cy="780157"/>
          </a:xfrm>
          <a:prstGeom prst="rect">
            <a:avLst/>
          </a:prstGeom>
        </p:spPr>
      </p:pic>
      <p:pic>
        <p:nvPicPr>
          <p:cNvPr id="18" name="Picture 17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9AF3817-53CF-B5B2-2F9D-D4EF82B35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9536319" y="3648812"/>
            <a:ext cx="820949" cy="780157"/>
          </a:xfrm>
          <a:prstGeom prst="rect">
            <a:avLst/>
          </a:prstGeom>
        </p:spPr>
      </p:pic>
      <p:pic>
        <p:nvPicPr>
          <p:cNvPr id="19" name="Picture 1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A84E3D6-EF98-9799-8BB4-F3A2677E51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10444223" y="5815104"/>
            <a:ext cx="820949" cy="780157"/>
          </a:xfrm>
          <a:prstGeom prst="rect">
            <a:avLst/>
          </a:prstGeom>
        </p:spPr>
      </p:pic>
      <p:pic>
        <p:nvPicPr>
          <p:cNvPr id="20" name="Picture 19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52DCA613-B15F-1619-C2FC-C7499160F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10854698" y="1415821"/>
            <a:ext cx="820949" cy="780157"/>
          </a:xfrm>
          <a:prstGeom prst="rect">
            <a:avLst/>
          </a:prstGeom>
        </p:spPr>
      </p:pic>
      <p:pic>
        <p:nvPicPr>
          <p:cNvPr id="21" name="Picture 2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4BB2458B-7852-3DC4-650F-7AE56AF63D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785672" y="5710824"/>
            <a:ext cx="820949" cy="780157"/>
          </a:xfrm>
          <a:prstGeom prst="rect">
            <a:avLst/>
          </a:prstGeom>
        </p:spPr>
      </p:pic>
      <p:pic>
        <p:nvPicPr>
          <p:cNvPr id="25" name="Picture 24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C830A656-9EE2-963A-2022-E10881E62C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2572382" y="2195978"/>
            <a:ext cx="820949" cy="780157"/>
          </a:xfrm>
          <a:prstGeom prst="rect">
            <a:avLst/>
          </a:prstGeom>
        </p:spPr>
      </p:pic>
      <p:pic>
        <p:nvPicPr>
          <p:cNvPr id="26" name="Picture 2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5EB07B0B-A508-2AD3-D00A-F6B386F64F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752885" y="3631706"/>
            <a:ext cx="820949" cy="780157"/>
          </a:xfrm>
          <a:prstGeom prst="rect">
            <a:avLst/>
          </a:prstGeom>
        </p:spPr>
      </p:pic>
      <p:pic>
        <p:nvPicPr>
          <p:cNvPr id="27" name="Picture 26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6C7D0B8-31B9-264F-643C-CEAAA36679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2167277" y="5487270"/>
            <a:ext cx="820949" cy="780157"/>
          </a:xfrm>
          <a:prstGeom prst="rect">
            <a:avLst/>
          </a:prstGeom>
        </p:spPr>
      </p:pic>
      <p:pic>
        <p:nvPicPr>
          <p:cNvPr id="29" name="Picture 2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123F34D9-5F2D-9B44-6867-FDCAAC3636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4100511" y="3648812"/>
            <a:ext cx="820949" cy="780157"/>
          </a:xfrm>
          <a:prstGeom prst="rect">
            <a:avLst/>
          </a:prstGeom>
        </p:spPr>
      </p:pic>
      <p:pic>
        <p:nvPicPr>
          <p:cNvPr id="30" name="Picture 29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AC43C275-3A58-DCF6-60C5-85E09DDAA9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6033745" y="1810354"/>
            <a:ext cx="820949" cy="780157"/>
          </a:xfrm>
          <a:prstGeom prst="rect">
            <a:avLst/>
          </a:prstGeom>
        </p:spPr>
      </p:pic>
      <p:pic>
        <p:nvPicPr>
          <p:cNvPr id="31" name="Picture 3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C6315822-AB1D-2CD9-073F-D77962272A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7762461" y="3630533"/>
            <a:ext cx="820949" cy="780157"/>
          </a:xfrm>
          <a:prstGeom prst="rect">
            <a:avLst/>
          </a:prstGeom>
        </p:spPr>
      </p:pic>
      <p:pic>
        <p:nvPicPr>
          <p:cNvPr id="32" name="Picture 31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FB620F03-001D-08ED-B0F9-F6D3F3BA02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5540674" y="5708233"/>
            <a:ext cx="820949" cy="780157"/>
          </a:xfrm>
          <a:prstGeom prst="rect">
            <a:avLst/>
          </a:prstGeom>
        </p:spPr>
      </p:pic>
      <p:pic>
        <p:nvPicPr>
          <p:cNvPr id="33" name="Picture 3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B29C2CEF-45E1-656E-3CE0-4C097BA5CD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9495108" y="1578043"/>
            <a:ext cx="820949" cy="780157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4178B14-B036-66A0-26D1-8D49BBAA5A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02896" y="82479"/>
            <a:ext cx="11216205" cy="671737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A57D128-D407-2244-311D-8D33EACACA9E}"/>
              </a:ext>
            </a:extLst>
          </p:cNvPr>
          <p:cNvSpPr/>
          <p:nvPr userDrawn="1"/>
        </p:nvSpPr>
        <p:spPr>
          <a:xfrm>
            <a:off x="251244" y="6555922"/>
            <a:ext cx="11224038" cy="154067"/>
          </a:xfrm>
          <a:prstGeom prst="roundRect">
            <a:avLst>
              <a:gd name="adj" fmla="val 35315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AI Badge ★ </a:t>
            </a:r>
            <a:r>
              <a:rPr lang="en-GB" sz="80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aibadge.fiveinnolabs.com</a:t>
            </a:r>
            <a:r>
              <a:rPr lang="en-GB" sz="8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★ Victor del Rosal ★ © fiveinnolabs, 2026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6DF2C4-8B42-CF8E-090B-A3064CF10E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6000"/>
          </a:blip>
          <a:stretch>
            <a:fillRect/>
          </a:stretch>
        </p:blipFill>
        <p:spPr>
          <a:xfrm>
            <a:off x="11553256" y="204825"/>
            <a:ext cx="384032" cy="41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10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747CED3-E9F1-7075-77E2-D3CE760D59C8}"/>
              </a:ext>
            </a:extLst>
          </p:cNvPr>
          <p:cNvSpPr/>
          <p:nvPr userDrawn="1"/>
        </p:nvSpPr>
        <p:spPr>
          <a:xfrm>
            <a:off x="0" y="-13044"/>
            <a:ext cx="12192000" cy="687104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209D"/>
              </a:gs>
              <a:gs pos="51000">
                <a:srgbClr val="01054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8C2F9C9-0F7C-7E76-5055-7AE8C435AE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</a:blip>
          <a:stretch>
            <a:fillRect/>
          </a:stretch>
        </p:blipFill>
        <p:spPr>
          <a:xfrm>
            <a:off x="11230512" y="5955470"/>
            <a:ext cx="695226" cy="660681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C9E2D5F-AB70-7042-D9E2-D0BDAAF2E0AD}"/>
              </a:ext>
            </a:extLst>
          </p:cNvPr>
          <p:cNvSpPr/>
          <p:nvPr userDrawn="1"/>
        </p:nvSpPr>
        <p:spPr>
          <a:xfrm>
            <a:off x="215900" y="160204"/>
            <a:ext cx="11785599" cy="6540136"/>
          </a:xfrm>
          <a:prstGeom prst="roundRect">
            <a:avLst>
              <a:gd name="adj" fmla="val 2994"/>
            </a:avLst>
          </a:prstGeom>
          <a:noFill/>
          <a:ln w="19050">
            <a:gradFill flip="none" rotWithShape="1">
              <a:gsLst>
                <a:gs pos="0">
                  <a:schemeClr val="accent1">
                    <a:lumMod val="89000"/>
                  </a:schemeClr>
                </a:gs>
                <a:gs pos="23000">
                  <a:schemeClr val="accent1">
                    <a:lumMod val="89000"/>
                  </a:schemeClr>
                </a:gs>
                <a:gs pos="69000">
                  <a:schemeClr val="accent1">
                    <a:lumMod val="75000"/>
                  </a:schemeClr>
                </a:gs>
                <a:gs pos="97000">
                  <a:schemeClr val="accent1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 b="1">
              <a:solidFill>
                <a:prstClr val="white"/>
              </a:solidFill>
              <a:latin typeface="Arial"/>
            </a:endParaRPr>
          </a:p>
        </p:txBody>
      </p:sp>
      <p:pic>
        <p:nvPicPr>
          <p:cNvPr id="11" name="Picture 1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0C1D5642-C85B-8C39-7712-1107814863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</a:blip>
          <a:stretch>
            <a:fillRect/>
          </a:stretch>
        </p:blipFill>
        <p:spPr>
          <a:xfrm>
            <a:off x="297268" y="258608"/>
            <a:ext cx="695226" cy="660681"/>
          </a:xfrm>
          <a:prstGeom prst="rect">
            <a:avLst/>
          </a:prstGeom>
        </p:spPr>
      </p:pic>
      <p:pic>
        <p:nvPicPr>
          <p:cNvPr id="2" name="Picture 1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3396EB24-503C-3723-FB1F-E641B5DE8D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73735" y="1015061"/>
            <a:ext cx="619605" cy="617788"/>
          </a:xfrm>
          <a:prstGeom prst="rect">
            <a:avLst/>
          </a:prstGeom>
        </p:spPr>
      </p:pic>
      <p:pic>
        <p:nvPicPr>
          <p:cNvPr id="3" name="Picture 2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51FF9B01-8F48-B4EB-8BB2-33AF56D7BB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10501479" y="4922172"/>
            <a:ext cx="619605" cy="617788"/>
          </a:xfrm>
          <a:prstGeom prst="rect">
            <a:avLst/>
          </a:prstGeom>
        </p:spPr>
      </p:pic>
      <p:pic>
        <p:nvPicPr>
          <p:cNvPr id="5" name="Picture 4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4D5ADDA7-9475-D310-5DA7-CFF7581DE0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10436682" y="1965946"/>
            <a:ext cx="619605" cy="617788"/>
          </a:xfrm>
          <a:prstGeom prst="rect">
            <a:avLst/>
          </a:prstGeom>
        </p:spPr>
      </p:pic>
      <p:pic>
        <p:nvPicPr>
          <p:cNvPr id="6" name="Picture 5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B03DE13C-5CD0-B330-0BEA-92AF2662A7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6096000" y="2811212"/>
            <a:ext cx="619605" cy="617788"/>
          </a:xfrm>
          <a:prstGeom prst="rect">
            <a:avLst/>
          </a:prstGeom>
        </p:spPr>
      </p:pic>
      <p:pic>
        <p:nvPicPr>
          <p:cNvPr id="8" name="Picture 7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53A11081-5857-79F6-796B-0D8486034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23371" y="5293464"/>
            <a:ext cx="619605" cy="617788"/>
          </a:xfrm>
          <a:prstGeom prst="rect">
            <a:avLst/>
          </a:prstGeom>
        </p:spPr>
      </p:pic>
      <p:pic>
        <p:nvPicPr>
          <p:cNvPr id="13" name="Picture 12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BA0E8621-9E19-F076-07BE-EC6AE543DB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3412433" y="3044581"/>
            <a:ext cx="619605" cy="617788"/>
          </a:xfrm>
          <a:prstGeom prst="rect">
            <a:avLst/>
          </a:prstGeom>
        </p:spPr>
      </p:pic>
      <p:pic>
        <p:nvPicPr>
          <p:cNvPr id="14" name="Picture 13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2A42CFB4-06CA-5E57-DF4F-3DD63F4EC3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451908" y="747574"/>
            <a:ext cx="619605" cy="617788"/>
          </a:xfrm>
          <a:prstGeom prst="rect">
            <a:avLst/>
          </a:prstGeom>
        </p:spPr>
      </p:pic>
      <p:pic>
        <p:nvPicPr>
          <p:cNvPr id="15" name="Picture 14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9C0C927D-1CE7-42A3-D6A6-D20B17E59B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637392" y="3407427"/>
            <a:ext cx="619605" cy="617788"/>
          </a:xfrm>
          <a:prstGeom prst="rect">
            <a:avLst/>
          </a:prstGeom>
        </p:spPr>
      </p:pic>
      <p:pic>
        <p:nvPicPr>
          <p:cNvPr id="16" name="Picture 15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81D9D0C9-40FD-50C7-E6E7-0B667D854E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7402367" y="4866984"/>
            <a:ext cx="619605" cy="617788"/>
          </a:xfrm>
          <a:prstGeom prst="rect">
            <a:avLst/>
          </a:prstGeom>
        </p:spPr>
      </p:pic>
      <p:pic>
        <p:nvPicPr>
          <p:cNvPr id="17" name="Picture 16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854609E5-6108-C4BF-A034-71871EF74C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4922861" y="5451958"/>
            <a:ext cx="619605" cy="617788"/>
          </a:xfrm>
          <a:prstGeom prst="rect">
            <a:avLst/>
          </a:prstGeom>
        </p:spPr>
      </p:pic>
      <p:pic>
        <p:nvPicPr>
          <p:cNvPr id="18" name="Picture 17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399E5209-6D50-EBD2-E3D9-FEB67AF3DB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3149504" y="638531"/>
            <a:ext cx="619605" cy="617788"/>
          </a:xfrm>
          <a:prstGeom prst="rect">
            <a:avLst/>
          </a:prstGeom>
        </p:spPr>
      </p:pic>
      <p:pic>
        <p:nvPicPr>
          <p:cNvPr id="19" name="Picture 18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21827A53-68A9-DEBA-A3D5-47F5FAFC77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1504364" y="2735687"/>
            <a:ext cx="619605" cy="617788"/>
          </a:xfrm>
          <a:prstGeom prst="rect">
            <a:avLst/>
          </a:prstGeom>
        </p:spPr>
      </p:pic>
      <p:pic>
        <p:nvPicPr>
          <p:cNvPr id="20" name="Picture 19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4912479B-CE8C-0EDC-4C50-EF5098462F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2563313" y="5175878"/>
            <a:ext cx="619605" cy="617788"/>
          </a:xfrm>
          <a:prstGeom prst="rect">
            <a:avLst/>
          </a:prstGeom>
        </p:spPr>
      </p:pic>
      <p:pic>
        <p:nvPicPr>
          <p:cNvPr id="22" name="Picture 21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B66A85D3-2321-6582-44CA-AD7D4B2BFE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5542466" y="947425"/>
            <a:ext cx="619605" cy="6177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9F6A69-A636-A030-2095-72327CF185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10700" y="310544"/>
            <a:ext cx="384032" cy="41091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940E454-34B4-8763-AB5B-1BD381F283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146" y="6195298"/>
            <a:ext cx="384032" cy="41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192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8C2F9C9-0F7C-7E76-5055-7AE8C435AE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39115" y="6135609"/>
            <a:ext cx="695226" cy="660681"/>
          </a:xfrm>
          <a:prstGeom prst="rect">
            <a:avLst/>
          </a:prstGeom>
        </p:spPr>
      </p:pic>
      <p:pic>
        <p:nvPicPr>
          <p:cNvPr id="11" name="Picture 1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0C1D5642-C85B-8C39-7712-1107814863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7659" y="63055"/>
            <a:ext cx="695226" cy="66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916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12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F869E-B3D3-7451-C2DF-9B9459DCF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CD172DE-A3FA-B813-F463-0B7D2FBBE485}"/>
              </a:ext>
            </a:extLst>
          </p:cNvPr>
          <p:cNvSpPr/>
          <p:nvPr/>
        </p:nvSpPr>
        <p:spPr>
          <a:xfrm>
            <a:off x="769516" y="5831335"/>
            <a:ext cx="10059684" cy="752053"/>
          </a:xfrm>
          <a:prstGeom prst="rect">
            <a:avLst/>
          </a:prstGeom>
          <a:gradFill>
            <a:gsLst>
              <a:gs pos="0">
                <a:srgbClr val="01136B"/>
              </a:gs>
              <a:gs pos="30000">
                <a:srgbClr val="00209D"/>
              </a:gs>
              <a:gs pos="99000">
                <a:srgbClr val="01054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7D0E3B-F25F-51D9-DA87-1AC4E0E40003}"/>
              </a:ext>
            </a:extLst>
          </p:cNvPr>
          <p:cNvSpPr txBox="1"/>
          <p:nvPr/>
        </p:nvSpPr>
        <p:spPr>
          <a:xfrm>
            <a:off x="4654718" y="5993262"/>
            <a:ext cx="2952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spc="300" dirty="0">
                <a:solidFill>
                  <a:schemeClr val="bg1">
                    <a:alpha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Victor del Rosal</a:t>
            </a:r>
            <a:endParaRPr lang="en-GB" sz="1100" spc="100" dirty="0">
              <a:solidFill>
                <a:schemeClr val="bg1">
                  <a:alpha val="82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556C1AD-DA17-D848-6722-D920070FB5C5}"/>
              </a:ext>
            </a:extLst>
          </p:cNvPr>
          <p:cNvGrpSpPr/>
          <p:nvPr/>
        </p:nvGrpSpPr>
        <p:grpSpPr>
          <a:xfrm>
            <a:off x="215825" y="5724822"/>
            <a:ext cx="965079" cy="965079"/>
            <a:chOff x="658841" y="5474941"/>
            <a:chExt cx="1042716" cy="1042716"/>
          </a:xfrm>
        </p:grpSpPr>
        <p:pic>
          <p:nvPicPr>
            <p:cNvPr id="7" name="Picture 6" descr="A person in a sweater&#10;&#10;Description automatically generated">
              <a:extLst>
                <a:ext uri="{FF2B5EF4-FFF2-40B4-BE49-F238E27FC236}">
                  <a16:creationId xmlns:a16="http://schemas.microsoft.com/office/drawing/2014/main" id="{F1C41F3F-25F1-9C74-15F0-17A8B11FB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62483" y="5479224"/>
              <a:ext cx="1038433" cy="1038433"/>
            </a:xfrm>
            <a:prstGeom prst="rect">
              <a:avLst/>
            </a:prstGeom>
            <a:ln>
              <a:noFill/>
            </a:ln>
          </p:spPr>
        </p:pic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AC24E88-CB44-BECE-9488-CF4588253A8E}"/>
                </a:ext>
              </a:extLst>
            </p:cNvPr>
            <p:cNvSpPr/>
            <p:nvPr/>
          </p:nvSpPr>
          <p:spPr>
            <a:xfrm>
              <a:off x="658841" y="5474941"/>
              <a:ext cx="1042716" cy="1042716"/>
            </a:xfrm>
            <a:prstGeom prst="ellipse">
              <a:avLst/>
            </a:prstGeom>
            <a:noFill/>
            <a:ln w="1270">
              <a:noFill/>
            </a:ln>
            <a:effectLst>
              <a:outerShdw blurRad="127000" dist="38100" dir="2700000" algn="tl" rotWithShape="0">
                <a:prstClr val="black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4" name="Picture 3" descr="A person sitting next to a robot&#10;&#10;Description automatically generated">
            <a:extLst>
              <a:ext uri="{FF2B5EF4-FFF2-40B4-BE49-F238E27FC236}">
                <a16:creationId xmlns:a16="http://schemas.microsoft.com/office/drawing/2014/main" id="{A455D599-5F74-4111-B9B9-D1DC40258F1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4990" b="-229"/>
          <a:stretch/>
        </p:blipFill>
        <p:spPr>
          <a:xfrm>
            <a:off x="9040091" y="4659179"/>
            <a:ext cx="2718522" cy="220199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69B9AD6-A709-E51E-0D3C-54E6EC695D66}"/>
              </a:ext>
            </a:extLst>
          </p:cNvPr>
          <p:cNvSpPr txBox="1"/>
          <p:nvPr/>
        </p:nvSpPr>
        <p:spPr>
          <a:xfrm>
            <a:off x="1097183" y="906883"/>
            <a:ext cx="100626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chemeClr val="bg1"/>
                </a:solidFill>
                <a:effectLst>
                  <a:outerShdw blurRad="182279" dist="38100" dir="2700000" algn="tl" rotWithShape="0">
                    <a:prstClr val="black">
                      <a:alpha val="77185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AI BADGE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CB4387E-CDB3-43F8-3C41-9268ACE4DCD6}"/>
              </a:ext>
            </a:extLst>
          </p:cNvPr>
          <p:cNvGrpSpPr/>
          <p:nvPr/>
        </p:nvGrpSpPr>
        <p:grpSpPr>
          <a:xfrm>
            <a:off x="1847756" y="859911"/>
            <a:ext cx="8441385" cy="5060614"/>
            <a:chOff x="2222888" y="1245255"/>
            <a:chExt cx="7815943" cy="468566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742179B-7D1E-1019-1F4C-1B8BEF090CA6}"/>
                </a:ext>
              </a:extLst>
            </p:cNvPr>
            <p:cNvCxnSpPr>
              <a:cxnSpLocks/>
            </p:cNvCxnSpPr>
            <p:nvPr/>
          </p:nvCxnSpPr>
          <p:spPr>
            <a:xfrm>
              <a:off x="2222888" y="1245255"/>
              <a:ext cx="7815943" cy="0"/>
            </a:xfrm>
            <a:prstGeom prst="line">
              <a:avLst/>
            </a:prstGeom>
            <a:noFill/>
            <a:ln>
              <a:gradFill flip="none" rotWithShape="1">
                <a:gsLst>
                  <a:gs pos="0">
                    <a:srgbClr val="001780"/>
                  </a:gs>
                  <a:gs pos="50000">
                    <a:srgbClr val="001B91"/>
                  </a:gs>
                  <a:gs pos="100000">
                    <a:srgbClr val="000443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3070299-0D73-14C9-F951-DA99504E8445}"/>
                </a:ext>
              </a:extLst>
            </p:cNvPr>
            <p:cNvCxnSpPr>
              <a:cxnSpLocks/>
            </p:cNvCxnSpPr>
            <p:nvPr/>
          </p:nvCxnSpPr>
          <p:spPr>
            <a:xfrm>
              <a:off x="2222888" y="2455448"/>
              <a:ext cx="7815943" cy="0"/>
            </a:xfrm>
            <a:prstGeom prst="line">
              <a:avLst/>
            </a:prstGeom>
            <a:noFill/>
            <a:ln>
              <a:gradFill flip="none" rotWithShape="1">
                <a:gsLst>
                  <a:gs pos="0">
                    <a:srgbClr val="001780"/>
                  </a:gs>
                  <a:gs pos="50000">
                    <a:srgbClr val="001B91"/>
                  </a:gs>
                  <a:gs pos="100000">
                    <a:srgbClr val="000443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</p:cxn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AE72819-73E1-68D8-0A2C-50391DE4F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85684" y="2196241"/>
              <a:ext cx="3490350" cy="3734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8360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2F2F0-EC85-A5B1-9DD0-8EC524921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75504B-CD35-B93B-8EA2-8B8C774F1B8C}"/>
              </a:ext>
            </a:extLst>
          </p:cNvPr>
          <p:cNvSpPr txBox="1"/>
          <p:nvPr/>
        </p:nvSpPr>
        <p:spPr>
          <a:xfrm>
            <a:off x="239486" y="2921168"/>
            <a:ext cx="117130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37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E" sz="6000" b="1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AI Foundations 101</a:t>
            </a:r>
            <a:endParaRPr lang="en-US" sz="6000" b="1" dirty="0">
              <a:solidFill>
                <a:schemeClr val="bg1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19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The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E1D4C"/>
                </a:solidFill>
                <a:latin typeface="Helvetica Neue"/>
              </a:rPr>
              <a:t>Ever wondered why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03399"/>
                </a:solidFill>
                <a:latin typeface="Helvetica Neue"/>
              </a:rPr>
              <a:t>confidently makes things up?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788920"/>
            <a:ext cx="457200" cy="36576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9718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5B6278"/>
                </a:solidFill>
                <a:latin typeface="Helvetica Neue"/>
              </a:rPr>
              <a:t>This lesson is the mental model of how a large language model actually works. Pattern matching, training data, tokens, context windows, temperature, and the reason it hallucinates.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343400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12700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E1D4C"/>
                </a:solidFill>
                <a:latin typeface="Helvetica Neue"/>
              </a:rPr>
              <a:t>By the end, you will never be surprised by an AI mistake again.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278"/>
                </a:solidFill>
                <a:latin typeface="Helvetica Neue"/>
              </a:rPr>
              <a:t>Six ideas. One 60-second demo each. No maths, no jargon.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Pattern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E1D4C"/>
                </a:solidFill>
                <a:latin typeface="Helvetica Neue"/>
              </a:rPr>
              <a:t>It predicts the next word.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278"/>
                </a:solidFill>
                <a:latin typeface="Helvetica Neue"/>
              </a:rPr>
              <a:t>Not (in its core mechanism) thinking the way you 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86000"/>
            <a:ext cx="457200" cy="36576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651760"/>
            <a:ext cx="6035040" cy="3520440"/>
          </a:xfrm>
          <a:prstGeom prst="roundRect">
            <a:avLst>
              <a:gd name="adj" fmla="val 3000"/>
            </a:avLst>
          </a:prstGeom>
          <a:solidFill>
            <a:srgbClr val="F6F7FB"/>
          </a:solidFill>
          <a:ln w="9525">
            <a:solidFill>
              <a:srgbClr val="D8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E1D4C"/>
                </a:solidFill>
                <a:latin typeface="Menlo"/>
              </a:rPr>
              <a:t>The cat sat on the ___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3758184"/>
            <a:ext cx="2644444" cy="201168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1D4C"/>
                </a:solidFill>
                <a:latin typeface="Menlo"/>
              </a:rPr>
              <a:t>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3284" y="3703320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8"/>
                </a:solidFill>
                <a:latin typeface="Menlo"/>
              </a:rPr>
              <a:t>62%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4215384"/>
            <a:ext cx="919886" cy="201168"/>
          </a:xfrm>
          <a:prstGeom prst="rect">
            <a:avLst/>
          </a:prstGeom>
          <a:solidFill>
            <a:srgbClr val="6F8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1D4C"/>
                </a:solidFill>
                <a:latin typeface="Menlo"/>
              </a:rPr>
              <a:t>floor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8726" y="4160520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8"/>
                </a:solidFill>
                <a:latin typeface="Menlo"/>
              </a:rPr>
              <a:t>21%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4672584"/>
            <a:ext cx="415137" cy="201168"/>
          </a:xfrm>
          <a:prstGeom prst="rect">
            <a:avLst/>
          </a:prstGeom>
          <a:solidFill>
            <a:srgbClr val="5B6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1D4C"/>
                </a:solidFill>
                <a:latin typeface="Menlo"/>
              </a:rPr>
              <a:t>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3977" y="4617720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8"/>
                </a:solidFill>
                <a:latin typeface="Menlo"/>
              </a:rPr>
              <a:t>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5129784"/>
            <a:ext cx="78638" cy="201168"/>
          </a:xfrm>
          <a:prstGeom prst="rect">
            <a:avLst/>
          </a:prstGeom>
          <a:solidFill>
            <a:srgbClr val="5B6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074920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1D4C"/>
                </a:solidFill>
                <a:latin typeface="Menlo"/>
              </a:rPr>
              <a:t>keyboard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7478" y="5074920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8"/>
                </a:solidFill>
                <a:latin typeface="Menlo"/>
              </a:rPr>
              <a:t>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53212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2B2E45"/>
                </a:solidFill>
                <a:latin typeface="Helvetica Neue"/>
              </a:rPr>
              <a:t>It scores every possible next token and picks from the top. Then it does it again. One token at a time.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6517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3399"/>
                </a:solidFill>
                <a:latin typeface="Helvetica Neue"/>
              </a:rPr>
              <a:t>Why this matters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0" y="3218688"/>
            <a:ext cx="109728" cy="109728"/>
          </a:xfrm>
          <a:prstGeom prst="ellipse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0" y="310896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1D4C"/>
                </a:solidFill>
                <a:latin typeface="Helvetica Neue"/>
              </a:rPr>
              <a:t>It is fluent, not factual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419856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2E45"/>
                </a:solidFill>
                <a:latin typeface="Helvetica Neue"/>
              </a:rPr>
              <a:t>Fluency comes from patterns in the text. Truth has to be checked separately.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0" y="4178808"/>
            <a:ext cx="109728" cy="109728"/>
          </a:xfrm>
          <a:prstGeom prst="ellipse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0" y="406908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1D4C"/>
                </a:solidFill>
                <a:latin typeface="Helvetica Neue"/>
              </a:rPr>
              <a:t>It has no memory of you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379976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2E45"/>
                </a:solidFill>
                <a:latin typeface="Helvetica Neue"/>
              </a:rPr>
              <a:t>Each turn, it only sees what is in front of it. Nothing is recalled by default.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0" y="5138928"/>
            <a:ext cx="109728" cy="109728"/>
          </a:xfrm>
          <a:prstGeom prst="ellipse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0" y="502920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1D4C"/>
                </a:solidFill>
                <a:latin typeface="Helvetica Neue"/>
              </a:rPr>
              <a:t>It is confident either 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5340096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2E45"/>
                </a:solidFill>
                <a:latin typeface="Helvetica Neue"/>
              </a:rPr>
              <a:t>A right answer and a wrong one are produced the same way. Confidence is not a signal.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Training data &amp; the cutoff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1D4C"/>
                </a:solidFill>
                <a:latin typeface="Helvetica Neue"/>
              </a:rPr>
              <a:t>It learned the world up to a date.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278"/>
                </a:solidFill>
                <a:latin typeface="Helvetica Neue"/>
              </a:rPr>
              <a:t>After the training cutoff, it knows nothing unless you tell it or it can search.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331720"/>
            <a:ext cx="457200" cy="36576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697480"/>
            <a:ext cx="5349240" cy="3566160"/>
          </a:xfrm>
          <a:prstGeom prst="roundRect">
            <a:avLst>
              <a:gd name="adj" fmla="val 3000"/>
            </a:avLst>
          </a:prstGeom>
          <a:solidFill>
            <a:srgbClr val="F6F7FB"/>
          </a:solidFill>
          <a:ln w="15240">
            <a:solidFill>
              <a:srgbClr val="2F6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926080"/>
            <a:ext cx="4800600" cy="310896"/>
          </a:xfrm>
          <a:prstGeom prst="rect">
            <a:avLst/>
          </a:prstGeom>
          <a:solidFill>
            <a:srgbClr val="2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480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enlo"/>
              </a:rPr>
              <a:t>INSIDE THE TRAINING DATA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675888"/>
            <a:ext cx="109728" cy="109728"/>
          </a:xfrm>
          <a:prstGeom prst="ellipse">
            <a:avLst/>
          </a:prstGeom>
          <a:solidFill>
            <a:srgbClr val="2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2E45"/>
                </a:solidFill>
                <a:latin typeface="Helvetica Neue"/>
              </a:rPr>
              <a:t>How language, code and concepts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453128"/>
            <a:ext cx="109728" cy="109728"/>
          </a:xfrm>
          <a:prstGeom prst="ellipse">
            <a:avLst/>
          </a:prstGeom>
          <a:solidFill>
            <a:srgbClr val="2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434340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2E45"/>
                </a:solidFill>
                <a:latin typeface="Helvetica Neue"/>
              </a:rPr>
              <a:t>Public facts up to the cutoff date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5230368"/>
            <a:ext cx="109728" cy="109728"/>
          </a:xfrm>
          <a:prstGeom prst="ellipse">
            <a:avLst/>
          </a:prstGeom>
          <a:solidFill>
            <a:srgbClr val="2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1206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2E45"/>
                </a:solidFill>
                <a:latin typeface="Helvetica Neue"/>
              </a:rPr>
              <a:t>Patterns across billions of documents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697480"/>
            <a:ext cx="5349240" cy="3566160"/>
          </a:xfrm>
          <a:prstGeom prst="roundRect">
            <a:avLst>
              <a:gd name="adj" fmla="val 3000"/>
            </a:avLst>
          </a:prstGeom>
          <a:solidFill>
            <a:srgbClr val="F6F7FB"/>
          </a:solidFill>
          <a:ln w="15240">
            <a:solidFill>
              <a:srgbClr val="8A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29400" y="2926080"/>
            <a:ext cx="4800600" cy="310896"/>
          </a:xfrm>
          <a:prstGeom prst="rect">
            <a:avLst/>
          </a:prstGeom>
          <a:solidFill>
            <a:srgbClr val="8A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2926080"/>
            <a:ext cx="480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enlo"/>
              </a:rPr>
              <a:t>AFTER THE CUTOFF</a:t>
            </a:r>
          </a:p>
        </p:txBody>
      </p:sp>
      <p:sp>
        <p:nvSpPr>
          <p:cNvPr id="18" name="Oval 17"/>
          <p:cNvSpPr/>
          <p:nvPr/>
        </p:nvSpPr>
        <p:spPr>
          <a:xfrm>
            <a:off x="6720840" y="3675888"/>
            <a:ext cx="109728" cy="109728"/>
          </a:xfrm>
          <a:prstGeom prst="ellipse">
            <a:avLst/>
          </a:prstGeom>
          <a:solidFill>
            <a:srgbClr val="8A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95160" y="356616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2E45"/>
                </a:solidFill>
                <a:latin typeface="Helvetica Neue"/>
              </a:rPr>
              <a:t>Last week's news or this morning's price</a:t>
            </a:r>
          </a:p>
        </p:txBody>
      </p:sp>
      <p:sp>
        <p:nvSpPr>
          <p:cNvPr id="20" name="Oval 19"/>
          <p:cNvSpPr/>
          <p:nvPr/>
        </p:nvSpPr>
        <p:spPr>
          <a:xfrm>
            <a:off x="6720840" y="4453128"/>
            <a:ext cx="109728" cy="109728"/>
          </a:xfrm>
          <a:prstGeom prst="ellipse">
            <a:avLst/>
          </a:prstGeom>
          <a:solidFill>
            <a:srgbClr val="8A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95160" y="434340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2E45"/>
                </a:solidFill>
                <a:latin typeface="Helvetica Neue"/>
              </a:rPr>
              <a:t>Your private files, unless you share them</a:t>
            </a:r>
          </a:p>
        </p:txBody>
      </p:sp>
      <p:sp>
        <p:nvSpPr>
          <p:cNvPr id="22" name="Oval 21"/>
          <p:cNvSpPr/>
          <p:nvPr/>
        </p:nvSpPr>
        <p:spPr>
          <a:xfrm>
            <a:off x="6720840" y="5230368"/>
            <a:ext cx="109728" cy="109728"/>
          </a:xfrm>
          <a:prstGeom prst="ellipse">
            <a:avLst/>
          </a:prstGeom>
          <a:solidFill>
            <a:srgbClr val="8A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95160" y="51206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2E45"/>
                </a:solidFill>
                <a:latin typeface="Helvetica Neue"/>
              </a:rPr>
              <a:t>Anything that happened after it was trained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B6278"/>
                </a:solidFill>
                <a:latin typeface="Helvetica Neue"/>
              </a:rPr>
              <a:t>Ask a model what day it is and it often guesses. The fix is to give it the context, or use a tool that can look things 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1D4C"/>
                </a:solidFill>
                <a:latin typeface="Helvetica Neue"/>
              </a:rPr>
              <a:t>AI reads text in chunks, not words.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278"/>
                </a:solidFill>
                <a:latin typeface="Helvetica Neue"/>
              </a:rPr>
              <a:t>A token is roughly four characters. About 750 words is about 1,000 tokens.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331720"/>
            <a:ext cx="457200" cy="36576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2B2E45"/>
                </a:solidFill>
                <a:latin typeface="Helvetica Neue"/>
              </a:rPr>
              <a:t>"Tokenisation is surprisingly important."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246120"/>
            <a:ext cx="1028700" cy="50292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3246120"/>
            <a:ext cx="10287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Menlo"/>
              </a:rPr>
              <a:t>Token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3060" y="3246120"/>
            <a:ext cx="1275588" cy="502920"/>
          </a:xfrm>
          <a:prstGeom prst="rect">
            <a:avLst/>
          </a:prstGeom>
          <a:solidFill>
            <a:srgbClr val="6F8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23060" y="3246120"/>
            <a:ext cx="127558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Menlo"/>
              </a:rPr>
              <a:t>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90088" y="3246120"/>
            <a:ext cx="781812" cy="50292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0088" y="3246120"/>
            <a:ext cx="78181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Menlo"/>
              </a:rPr>
              <a:t>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63340" y="3246120"/>
            <a:ext cx="1399032" cy="502920"/>
          </a:xfrm>
          <a:prstGeom prst="rect">
            <a:avLst/>
          </a:prstGeom>
          <a:solidFill>
            <a:srgbClr val="6F8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63340" y="3246120"/>
            <a:ext cx="139903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Menlo"/>
              </a:rPr>
              <a:t> surpris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53812" y="3246120"/>
            <a:ext cx="1028700" cy="50292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53812" y="3246120"/>
            <a:ext cx="10287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Menlo"/>
              </a:rPr>
              <a:t>ingly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3246120"/>
            <a:ext cx="1645920" cy="502920"/>
          </a:xfrm>
          <a:prstGeom prst="rect">
            <a:avLst/>
          </a:prstGeom>
          <a:solidFill>
            <a:srgbClr val="6F8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324612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Menlo"/>
              </a:rPr>
              <a:t> important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11312" y="3246120"/>
            <a:ext cx="534924" cy="50292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1312" y="3246120"/>
            <a:ext cx="53492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Menlo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931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278"/>
                </a:solidFill>
                <a:latin typeface="Helvetica Neue"/>
              </a:rPr>
              <a:t>One long word splits into several tokens. Common words are one token. Spaces and punctuation count too.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572000"/>
            <a:ext cx="3611880" cy="1508760"/>
          </a:xfrm>
          <a:prstGeom prst="roundRect">
            <a:avLst>
              <a:gd name="adj" fmla="val 5000"/>
            </a:avLst>
          </a:prstGeom>
          <a:solidFill>
            <a:srgbClr val="F6F7FB"/>
          </a:solidFill>
          <a:ln w="9525">
            <a:solidFill>
              <a:srgbClr val="D8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8006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3399"/>
                </a:solidFill>
                <a:latin typeface="Helvetica Neue"/>
              </a:rPr>
              <a:t>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2E45"/>
                </a:solidFill>
                <a:latin typeface="Helvetica Neue"/>
              </a:rPr>
              <a:t>Most tools bill per token, in and out. Longer prompts cost more.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4820" y="4572000"/>
            <a:ext cx="3611880" cy="1508760"/>
          </a:xfrm>
          <a:prstGeom prst="roundRect">
            <a:avLst>
              <a:gd name="adj" fmla="val 5000"/>
            </a:avLst>
          </a:prstGeom>
          <a:solidFill>
            <a:srgbClr val="F6F7FB"/>
          </a:solidFill>
          <a:ln w="9525">
            <a:solidFill>
              <a:srgbClr val="D8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49140" y="48006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3399"/>
                </a:solidFill>
                <a:latin typeface="Helvetica Neue"/>
              </a:rPr>
              <a:t>Length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9140" y="521208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2E45"/>
                </a:solidFill>
                <a:latin typeface="Helvetica Neue"/>
              </a:rPr>
              <a:t>Every model has a token budget. Very long inputs get truncated.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572000"/>
            <a:ext cx="3611880" cy="1508760"/>
          </a:xfrm>
          <a:prstGeom prst="roundRect">
            <a:avLst>
              <a:gd name="adj" fmla="val 5000"/>
            </a:avLst>
          </a:prstGeom>
          <a:solidFill>
            <a:srgbClr val="F6F7FB"/>
          </a:solidFill>
          <a:ln w="9525">
            <a:solidFill>
              <a:srgbClr val="D8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48006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3399"/>
                </a:solidFill>
                <a:latin typeface="Helvetica Neue"/>
              </a:rPr>
              <a:t>Languages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21208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2E45"/>
                </a:solidFill>
                <a:latin typeface="Helvetica Neue"/>
              </a:rPr>
              <a:t>Some languages use more tokens per word, so they cost more.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Context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1D4C"/>
                </a:solidFill>
                <a:latin typeface="Helvetica Neue"/>
              </a:rPr>
              <a:t>The model only sees what fits.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278"/>
                </a:solidFill>
                <a:latin typeface="Helvetica Neue"/>
              </a:rPr>
              <a:t>Your prompt, your files and every reply share one window. Past the limit, the earliest text falls out of 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377440"/>
            <a:ext cx="457200" cy="36576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834640"/>
            <a:ext cx="11155680" cy="822960"/>
          </a:xfrm>
          <a:prstGeom prst="rect">
            <a:avLst/>
          </a:prstGeom>
          <a:solidFill>
            <a:srgbClr val="EC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794760" y="2834640"/>
            <a:ext cx="7863840" cy="822960"/>
          </a:xfrm>
          <a:prstGeom prst="rect">
            <a:avLst/>
          </a:prstGeom>
          <a:solidFill>
            <a:srgbClr val="DDE4F7"/>
          </a:solidFill>
          <a:ln w="19050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278"/>
                </a:solidFill>
                <a:latin typeface="Helvetica Neue"/>
              </a:rPr>
              <a:t>out of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283464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3399"/>
                </a:solidFill>
                <a:latin typeface="Helvetica Neue"/>
              </a:rPr>
              <a:t>in the context window  (what the model can use right now)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947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278"/>
                </a:solidFill>
                <a:latin typeface="Menlo"/>
              </a:rPr>
              <a:t>start of a long conversation  ───────────────────────────▶  newest message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4544568"/>
            <a:ext cx="118872" cy="118872"/>
          </a:xfrm>
          <a:prstGeom prst="ellipse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1D4C"/>
                </a:solidFill>
                <a:latin typeface="Helvetica Neue"/>
              </a:rPr>
              <a:t>Long chats forget the 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434840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B2E45"/>
                </a:solidFill>
                <a:latin typeface="Helvetica Neue"/>
              </a:rPr>
              <a:t>If a conversation runs long, restate the key facts near the end.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5138928"/>
            <a:ext cx="118872" cy="118872"/>
          </a:xfrm>
          <a:prstGeom prst="ellipse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1D4C"/>
                </a:solidFill>
                <a:latin typeface="Helvetica Neue"/>
              </a:rPr>
              <a:t>Big files can overflow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9200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B2E45"/>
                </a:solidFill>
                <a:latin typeface="Helvetica Neue"/>
              </a:rPr>
              <a:t>A model with a small window cannot reason over a whole long document at once.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5733288"/>
            <a:ext cx="118872" cy="118872"/>
          </a:xfrm>
          <a:prstGeom prst="ellipse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6235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1D4C"/>
                </a:solidFill>
                <a:latin typeface="Helvetica Neue"/>
              </a:rPr>
              <a:t>Put what matters last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623560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B2E45"/>
                </a:solidFill>
                <a:latin typeface="Helvetica Neue"/>
              </a:rPr>
              <a:t>Recent context carries the most weight. Lead with the ask, not the backstory.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Temperature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1D4C"/>
                </a:solidFill>
                <a:latin typeface="Helvetica Neue"/>
              </a:rPr>
              <a:t>One dial: predictable or surprising.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278"/>
                </a:solidFill>
                <a:latin typeface="Helvetica Neue"/>
              </a:rPr>
              <a:t>Same prompt, two settings. Low temperature stays safe. High temperature roams.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331720"/>
            <a:ext cx="457200" cy="36576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697480"/>
            <a:ext cx="5349240" cy="3657600"/>
          </a:xfrm>
          <a:prstGeom prst="roundRect">
            <a:avLst>
              <a:gd name="adj" fmla="val 3000"/>
            </a:avLst>
          </a:prstGeom>
          <a:solidFill>
            <a:srgbClr val="F6F7FB"/>
          </a:solidFill>
          <a:ln w="15240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926080"/>
            <a:ext cx="4800600" cy="310896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480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enlo"/>
              </a:rPr>
              <a:t>TEMPERATURE 0  ·  most predictable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278"/>
                </a:solidFill>
                <a:latin typeface="Helvetica Neue"/>
              </a:rPr>
              <a:t>Prompt: "Give me a name for a coffee shop."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1D4C"/>
                </a:solidFill>
                <a:latin typeface="Menlo"/>
              </a:rPr>
              <a:t>• The Daily Grind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61688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1D4C"/>
                </a:solidFill>
                <a:latin typeface="Menlo"/>
              </a:rPr>
              <a:t>• The Daily Grind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45736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1D4C"/>
                </a:solidFill>
                <a:latin typeface="Menlo"/>
              </a:rPr>
              <a:t>• The Daily Grind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4709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2E45"/>
                </a:solidFill>
                <a:latin typeface="Helvetica Neue"/>
              </a:rPr>
              <a:t>Repeatable and on-task. Use for facts, code, extraction, anything you want the same way twice.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697480"/>
            <a:ext cx="5349240" cy="3657600"/>
          </a:xfrm>
          <a:prstGeom prst="roundRect">
            <a:avLst>
              <a:gd name="adj" fmla="val 3000"/>
            </a:avLst>
          </a:prstGeom>
          <a:solidFill>
            <a:srgbClr val="F6F7FB"/>
          </a:solidFill>
          <a:ln w="15240">
            <a:solidFill>
              <a:srgbClr val="C1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9400" y="2926080"/>
            <a:ext cx="4800600" cy="310896"/>
          </a:xfrm>
          <a:prstGeom prst="rect">
            <a:avLst/>
          </a:prstGeom>
          <a:solidFill>
            <a:srgbClr val="C1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2926080"/>
            <a:ext cx="480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enlo"/>
              </a:rPr>
              <a:t>TEMPERATURE 1.2  ·  more random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52044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278"/>
                </a:solidFill>
                <a:latin typeface="Helvetica Neue"/>
              </a:rPr>
              <a:t>Prompt: "Give me a name for a coffee shop."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977640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1D4C"/>
                </a:solidFill>
                <a:latin typeface="Menlo"/>
              </a:rPr>
              <a:t>• Cloud &amp; Cardamom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361688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1D4C"/>
                </a:solidFill>
                <a:latin typeface="Menlo"/>
              </a:rPr>
              <a:t>• The Velvet Bean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745736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1D4C"/>
                </a:solidFill>
                <a:latin typeface="Menlo"/>
              </a:rPr>
              <a:t>• Loiter House Coffee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349240"/>
            <a:ext cx="4709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2E45"/>
                </a:solidFill>
                <a:latin typeface="Helvetica Neue"/>
              </a:rPr>
              <a:t>Varied and creative, but less reliable. Use for brainstorms, names, first drafts, ideas you will sift.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B6278"/>
                </a:solidFill>
                <a:latin typeface="Helvetica Neue"/>
              </a:rPr>
              <a:t>Most chat apps hide this dial. Knowing it exists explains why the same prompt can answer differently each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Hallucinations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1D4C"/>
                </a:solidFill>
                <a:latin typeface="Helvetica Neue"/>
              </a:rPr>
              <a:t>Made-up answers are a feature, not a glitch.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278"/>
                </a:solidFill>
                <a:latin typeface="Helvetica Neue"/>
              </a:rPr>
              <a:t>A model that always predicts the next likely word will sometimes predict a confident, plausible falsehood.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331720"/>
            <a:ext cx="457200" cy="36576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697480"/>
            <a:ext cx="5943600" cy="3474720"/>
          </a:xfrm>
          <a:prstGeom prst="roundRect">
            <a:avLst>
              <a:gd name="adj" fmla="val 3000"/>
            </a:avLst>
          </a:prstGeom>
          <a:solidFill>
            <a:srgbClr val="F6F7FB"/>
          </a:solidFill>
          <a:ln w="15240">
            <a:solidFill>
              <a:srgbClr val="8A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926080"/>
            <a:ext cx="2377440" cy="310896"/>
          </a:xfrm>
          <a:prstGeom prst="rect">
            <a:avLst/>
          </a:prstGeom>
          <a:solidFill>
            <a:srgbClr val="8A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enlo"/>
              </a:rPr>
              <a:t>WATCH IT HAPPEN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B6278"/>
                </a:solidFill>
                <a:latin typeface="Helvetica Neue"/>
              </a:rPr>
              <a:t>You ask: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E1D4C"/>
                </a:solidFill>
                <a:latin typeface="Menlo"/>
              </a:rPr>
              <a:t>"What was the title of the 2019 paper on agentic compliance by author X?"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B6278"/>
                </a:solidFill>
                <a:latin typeface="Helvetica Neue"/>
              </a:rPr>
              <a:t>It answers: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4632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E1D4C"/>
                </a:solidFill>
                <a:latin typeface="Menlo"/>
              </a:rPr>
              <a:t>"‘Agentic Compliance Frameworks for Regulated AI’, Journal of AI Policy, vol. 12."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7784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8A2A3F"/>
                </a:solidFill>
                <a:latin typeface="Helvetica Neue"/>
              </a:rPr>
              <a:t>Specific. Confident. And entirely invented. The paper, the journal and the volume do not exist.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6974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3399"/>
                </a:solidFill>
                <a:latin typeface="Helvetica Neue"/>
              </a:rPr>
              <a:t>Three signatures to watch for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0" y="3310128"/>
            <a:ext cx="118872" cy="118872"/>
          </a:xfrm>
          <a:prstGeom prst="ellipse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59168" y="3200400"/>
            <a:ext cx="46451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1D4C"/>
                </a:solidFill>
                <a:latin typeface="Helvetica Neue"/>
              </a:rPr>
              <a:t>Too specific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3529584"/>
            <a:ext cx="4645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B2E45"/>
                </a:solidFill>
                <a:latin typeface="Helvetica Neue"/>
              </a:rPr>
              <a:t>Exact figures, names, dates or citations that would be hard to know.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0" y="4224528"/>
            <a:ext cx="118872" cy="118872"/>
          </a:xfrm>
          <a:prstGeom prst="ellipse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59168" y="4114800"/>
            <a:ext cx="46451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1D4C"/>
                </a:solidFill>
                <a:latin typeface="Helvetica Neue"/>
              </a:rPr>
              <a:t>Too confident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4443984"/>
            <a:ext cx="4645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B2E45"/>
                </a:solidFill>
                <a:latin typeface="Helvetica Neue"/>
              </a:rPr>
              <a:t>No hedging at all on something genuinely uncertain or obscure.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0" y="5138928"/>
            <a:ext cx="118872" cy="118872"/>
          </a:xfrm>
          <a:prstGeom prst="ellipse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59168" y="5029200"/>
            <a:ext cx="46451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1D4C"/>
                </a:solidFill>
                <a:latin typeface="Helvetica Neue"/>
              </a:rPr>
              <a:t>Unverifiable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5358384"/>
            <a:ext cx="4645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B2E45"/>
                </a:solidFill>
                <a:latin typeface="Helvetica Neue"/>
              </a:rPr>
              <a:t>You cannot find an independent source that confirms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What you do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1D4C"/>
                </a:solidFill>
                <a:latin typeface="Helvetica Neue"/>
              </a:rPr>
              <a:t>You now know the mechanics.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278"/>
                </a:solidFill>
                <a:latin typeface="Helvetica Neue"/>
              </a:rPr>
              <a:t>The rest of the badge is about putting them to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377440"/>
            <a:ext cx="457200" cy="36576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55470" y="2861654"/>
            <a:ext cx="146304" cy="146304"/>
          </a:xfrm>
          <a:prstGeom prst="ellipse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3399"/>
                </a:solidFill>
                <a:latin typeface="Helvetica Neue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78892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2E45"/>
                </a:solidFill>
                <a:latin typeface="Helvetica Neue"/>
              </a:rPr>
              <a:t>Spot one hallucination in the wild and name its signature.</a:t>
            </a:r>
          </a:p>
        </p:txBody>
      </p:sp>
      <p:sp>
        <p:nvSpPr>
          <p:cNvPr id="9" name="Oval 8"/>
          <p:cNvSpPr/>
          <p:nvPr/>
        </p:nvSpPr>
        <p:spPr>
          <a:xfrm>
            <a:off x="555470" y="3574886"/>
            <a:ext cx="146304" cy="146304"/>
          </a:xfrm>
          <a:prstGeom prst="ellipse">
            <a:avLst/>
          </a:prstGeom>
          <a:solidFill>
            <a:srgbClr val="6F8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50215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6F82D4"/>
                </a:solidFill>
                <a:latin typeface="Helvetica Neue"/>
              </a:rPr>
              <a:t>This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502152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2E45"/>
                </a:solidFill>
                <a:latin typeface="Helvetica Neue"/>
              </a:rPr>
              <a:t>Notice tokens and context the next time a long chat drifts.</a:t>
            </a:r>
          </a:p>
        </p:txBody>
      </p:sp>
      <p:sp>
        <p:nvSpPr>
          <p:cNvPr id="12" name="Oval 11"/>
          <p:cNvSpPr/>
          <p:nvPr/>
        </p:nvSpPr>
        <p:spPr>
          <a:xfrm>
            <a:off x="555470" y="4288118"/>
            <a:ext cx="146304" cy="146304"/>
          </a:xfrm>
          <a:prstGeom prst="ellipse">
            <a:avLst/>
          </a:prstGeom>
          <a:solidFill>
            <a:srgbClr val="C1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215384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18A1C"/>
                </a:solidFill>
                <a:latin typeface="Helvetica Neue"/>
              </a:rPr>
              <a:t>Next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215384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2E45"/>
                </a:solidFill>
                <a:latin typeface="Helvetica Neue"/>
              </a:rPr>
              <a:t>Try temperature 0 vs high on the same prompt and compare.</a:t>
            </a:r>
          </a:p>
        </p:txBody>
      </p:sp>
      <p:sp>
        <p:nvSpPr>
          <p:cNvPr id="15" name="Oval 14"/>
          <p:cNvSpPr/>
          <p:nvPr/>
        </p:nvSpPr>
        <p:spPr>
          <a:xfrm>
            <a:off x="555470" y="5001350"/>
            <a:ext cx="146304" cy="146304"/>
          </a:xfrm>
          <a:prstGeom prst="ellipse">
            <a:avLst/>
          </a:prstGeom>
          <a:solidFill>
            <a:srgbClr val="2B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928616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B2E45"/>
                </a:solidFill>
                <a:latin typeface="Helvetica Neue"/>
              </a:rPr>
              <a:t>Beyond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928616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2E45"/>
                </a:solidFill>
                <a:latin typeface="Helvetica Neue"/>
              </a:rPr>
              <a:t>Carry the model into every lesson. Mechanics first, then craft.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760720"/>
            <a:ext cx="11155680" cy="777240"/>
          </a:xfrm>
          <a:prstGeom prst="roundRect">
            <a:avLst>
              <a:gd name="adj" fmla="val 12000"/>
            </a:avLst>
          </a:prstGeom>
          <a:solidFill>
            <a:srgbClr val="F6F7FB"/>
          </a:solidFill>
          <a:ln w="12700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1D4C"/>
                </a:solidFill>
                <a:latin typeface="Helvetica Neue"/>
              </a:rPr>
              <a:t>Next: The Evaluator's Mindset — use what you just learned to judge any AI output before you trust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3184</TotalTime>
  <Words>929</Words>
  <Application>Microsoft Macintosh PowerPoint</Application>
  <PresentationFormat>Widescreen</PresentationFormat>
  <Paragraphs>117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Arial Black</vt:lpstr>
      <vt:lpstr>Helvetica Neue</vt:lpstr>
      <vt:lpstr>Menlo</vt:lpstr>
      <vt:lpstr>blank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Victor Del Rosal</dc:creator>
  <cp:lastModifiedBy>Victor del Rosal</cp:lastModifiedBy>
  <cp:revision>648</cp:revision>
  <dcterms:created xsi:type="dcterms:W3CDTF">2023-11-16T14:24:59Z</dcterms:created>
  <dcterms:modified xsi:type="dcterms:W3CDTF">2026-05-28T18:13:04Z</dcterms:modified>
</cp:coreProperties>
</file>